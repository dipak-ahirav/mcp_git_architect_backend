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b1aff00d0541b3" /><Relationship Type="http://schemas.openxmlformats.org/officeDocument/2006/relationships/extended-properties" Target="/docProps/app.xml" Id="R04658131b8bc402d" /><Relationship Type="http://schemas.openxmlformats.org/officeDocument/2006/relationships/officeDocument" Target="/ppt/presentation.xml" Id="R2644f72e911e4b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2276b84d7e4672"/>
  </p:sldMasterIdLst>
  <p:notesMasterIdLst>
    <p:notesMasterId xmlns:r="http://schemas.openxmlformats.org/officeDocument/2006/relationships" r:id="R52aa5b5c765d4b82"/>
  </p:notesMasterIdLst>
  <p:sldIdLst>
    <p:sldId xmlns:r="http://schemas.openxmlformats.org/officeDocument/2006/relationships" id="256" r:id="R919c4f4493814a42"/>
    <p:sldId xmlns:r="http://schemas.openxmlformats.org/officeDocument/2006/relationships" id="257" r:id="Rbb2a2086b4424e9a"/>
    <p:sldId xmlns:r="http://schemas.openxmlformats.org/officeDocument/2006/relationships" id="258" r:id="Rad4c8ee01f674565"/>
    <p:sldId xmlns:r="http://schemas.openxmlformats.org/officeDocument/2006/relationships" id="259" r:id="Ra2eb5fb4f1c64a55"/>
    <p:sldId xmlns:r="http://schemas.openxmlformats.org/officeDocument/2006/relationships" id="260" r:id="Rd3d45b9ab23a417e"/>
    <p:sldId xmlns:r="http://schemas.openxmlformats.org/officeDocument/2006/relationships" id="261" r:id="Rbcd4f26a9e5d492c"/>
    <p:sldId xmlns:r="http://schemas.openxmlformats.org/officeDocument/2006/relationships" id="262" r:id="R68a397ca37d2466d"/>
    <p:sldId xmlns:r="http://schemas.openxmlformats.org/officeDocument/2006/relationships" id="263" r:id="R44f81bef258c47d7"/>
    <p:sldId xmlns:r="http://schemas.openxmlformats.org/officeDocument/2006/relationships" id="264" r:id="R42fc368883584ed9"/>
    <p:sldId xmlns:r="http://schemas.openxmlformats.org/officeDocument/2006/relationships" id="265" r:id="Ra4c21379273747cd"/>
    <p:sldId xmlns:r="http://schemas.openxmlformats.org/officeDocument/2006/relationships" id="266" r:id="Rb3ca0a0f7ff24667"/>
    <p:sldId xmlns:r="http://schemas.openxmlformats.org/officeDocument/2006/relationships" id="267" r:id="Rb42fff8d9c9f4a3d"/>
    <p:sldId xmlns:r="http://schemas.openxmlformats.org/officeDocument/2006/relationships" id="268" r:id="Rf836638d5fc348c5"/>
    <p:sldId xmlns:r="http://schemas.openxmlformats.org/officeDocument/2006/relationships" id="269" r:id="R82f4a743310942f5"/>
    <p:sldId xmlns:r="http://schemas.openxmlformats.org/officeDocument/2006/relationships" id="270" r:id="Rd3246810aa7f4aec"/>
    <p:sldId xmlns:r="http://schemas.openxmlformats.org/officeDocument/2006/relationships" id="271" r:id="R1a87671899ec4b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cb10fdd6049c7" /><Relationship Type="http://schemas.openxmlformats.org/officeDocument/2006/relationships/slideMaster" Target="/ppt/slideMasters/slideMaster1.xml" Id="R472276b84d7e4672" /><Relationship Type="http://schemas.openxmlformats.org/officeDocument/2006/relationships/notesMaster" Target="/ppt/notesMasters/notesMaster1.xml" Id="R52aa5b5c765d4b82" /><Relationship Type="http://schemas.openxmlformats.org/officeDocument/2006/relationships/presProps" Target="/ppt/presProps.xml" Id="R1ea163ba11a24613" /><Relationship Type="http://schemas.openxmlformats.org/officeDocument/2006/relationships/tableStyles" Target="/ppt/tableStyles.xml" Id="R4e1ad999d0994032" /><Relationship Type="http://schemas.openxmlformats.org/officeDocument/2006/relationships/slide" Target="/ppt/slides/slide1.xml" Id="R919c4f4493814a42" /><Relationship Type="http://schemas.openxmlformats.org/officeDocument/2006/relationships/slide" Target="/ppt/slides/slide2.xml" Id="Rbb2a2086b4424e9a" /><Relationship Type="http://schemas.openxmlformats.org/officeDocument/2006/relationships/slide" Target="/ppt/slides/slide3.xml" Id="Rad4c8ee01f674565" /><Relationship Type="http://schemas.openxmlformats.org/officeDocument/2006/relationships/slide" Target="/ppt/slides/slide4.xml" Id="Ra2eb5fb4f1c64a55" /><Relationship Type="http://schemas.openxmlformats.org/officeDocument/2006/relationships/slide" Target="/ppt/slides/slide5.xml" Id="Rd3d45b9ab23a417e" /><Relationship Type="http://schemas.openxmlformats.org/officeDocument/2006/relationships/slide" Target="/ppt/slides/slide6.xml" Id="Rbcd4f26a9e5d492c" /><Relationship Type="http://schemas.openxmlformats.org/officeDocument/2006/relationships/slide" Target="/ppt/slides/slide7.xml" Id="R68a397ca37d2466d" /><Relationship Type="http://schemas.openxmlformats.org/officeDocument/2006/relationships/slide" Target="/ppt/slides/slide8.xml" Id="R44f81bef258c47d7" /><Relationship Type="http://schemas.openxmlformats.org/officeDocument/2006/relationships/slide" Target="/ppt/slides/slide9.xml" Id="R42fc368883584ed9" /><Relationship Type="http://schemas.openxmlformats.org/officeDocument/2006/relationships/slide" Target="/ppt/slides/slide10.xml" Id="Ra4c21379273747cd" /><Relationship Type="http://schemas.openxmlformats.org/officeDocument/2006/relationships/slide" Target="/ppt/slides/slide11.xml" Id="Rb3ca0a0f7ff24667" /><Relationship Type="http://schemas.openxmlformats.org/officeDocument/2006/relationships/slide" Target="/ppt/slides/slide12.xml" Id="Rb42fff8d9c9f4a3d" /><Relationship Type="http://schemas.openxmlformats.org/officeDocument/2006/relationships/slide" Target="/ppt/slides/slide13.xml" Id="Rf836638d5fc348c5" /><Relationship Type="http://schemas.openxmlformats.org/officeDocument/2006/relationships/slide" Target="/ppt/slides/slide14.xml" Id="R82f4a743310942f5" /><Relationship Type="http://schemas.openxmlformats.org/officeDocument/2006/relationships/slide" Target="/ppt/slides/slide15.xml" Id="Rd3246810aa7f4aec" /><Relationship Type="http://schemas.openxmlformats.org/officeDocument/2006/relationships/slide" Target="/ppt/slides/slide16.xml" Id="R1a87671899ec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73aa0dc3944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232d2a09f4da9" /><Relationship Type="http://schemas.openxmlformats.org/officeDocument/2006/relationships/notesMaster" Target="/ppt/notesMasters/notesMaster1.xml" Id="R495a13facd1447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cd5cc231414f23" /><Relationship Type="http://schemas.openxmlformats.org/officeDocument/2006/relationships/notesMaster" Target="/ppt/notesMasters/notesMaster1.xml" Id="R8ce8c490206a41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e5d32aef064574" /><Relationship Type="http://schemas.openxmlformats.org/officeDocument/2006/relationships/notesMaster" Target="/ppt/notesMasters/notesMaster1.xml" Id="Rc364d91b1e7a41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1c59e838644a96" /><Relationship Type="http://schemas.openxmlformats.org/officeDocument/2006/relationships/notesMaster" Target="/ppt/notesMasters/notesMaster1.xml" Id="R121e4350f5c34d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6fe05b32c46c1" /><Relationship Type="http://schemas.openxmlformats.org/officeDocument/2006/relationships/notesMaster" Target="/ppt/notesMasters/notesMaster1.xml" Id="R7c3a5fc055dd45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eb7d9fdcdb4cf5" /><Relationship Type="http://schemas.openxmlformats.org/officeDocument/2006/relationships/notesMaster" Target="/ppt/notesMasters/notesMaster1.xml" Id="R76db3c66f0594f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02345d95ed4339" /><Relationship Type="http://schemas.openxmlformats.org/officeDocument/2006/relationships/notesMaster" Target="/ppt/notesMasters/notesMaster1.xml" Id="Refabdc54043b47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74ed1ab1774f16" /><Relationship Type="http://schemas.openxmlformats.org/officeDocument/2006/relationships/notesMaster" Target="/ppt/notesMasters/notesMaster1.xml" Id="Rd6296338573544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db60924c7e4a7c" /><Relationship Type="http://schemas.openxmlformats.org/officeDocument/2006/relationships/notesMaster" Target="/ppt/notesMasters/notesMaster1.xml" Id="Rda78832d77504d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e319bfaf38406b" /><Relationship Type="http://schemas.openxmlformats.org/officeDocument/2006/relationships/notesMaster" Target="/ppt/notesMasters/notesMaster1.xml" Id="R3dccbe092fa343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a31f101af44344" /><Relationship Type="http://schemas.openxmlformats.org/officeDocument/2006/relationships/notesMaster" Target="/ppt/notesMasters/notesMaster1.xml" Id="R682bdc41256f49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2b4659290a49de" /><Relationship Type="http://schemas.openxmlformats.org/officeDocument/2006/relationships/notesMaster" Target="/ppt/notesMasters/notesMaster1.xml" Id="R9f65c384748047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c3c01b7e2749b3" /><Relationship Type="http://schemas.openxmlformats.org/officeDocument/2006/relationships/notesMaster" Target="/ppt/notesMasters/notesMaster1.xml" Id="Rec693aac29e64a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bb2a7ba1504f7a" /><Relationship Type="http://schemas.openxmlformats.org/officeDocument/2006/relationships/notesMaster" Target="/ppt/notesMasters/notesMaster1.xml" Id="Rdc18f902f3154d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0103298f3b404a" /><Relationship Type="http://schemas.openxmlformats.org/officeDocument/2006/relationships/notesMaster" Target="/ppt/notesMasters/notesMaster1.xml" Id="R24b10a1b4f244c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212a24a9e5482d" /><Relationship Type="http://schemas.openxmlformats.org/officeDocument/2006/relationships/notesMaster" Target="/ppt/notesMasters/notesMaster1.xml" Id="Rff733009ee0b42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introduce the purpose of the demo deck.</a:t>
            </a:r>
          </a:p>
          <a:p xmlns:a="http://schemas.openxmlformats.org/drawingml/2006/main">
            <a:r>
              <a:t>The screenshots are user-provided UI evidence and are not treated as executable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Screenshots provided by user in current conversation.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C:/Users/DIPAKA~1/AppData/Local/Temp/codex-clipboard-22267948-5d7d-4e32-a769-b5d7ba744ef7.png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C:/Users/DIPAKA~1/AppData/Local/Temp/codex-clipboard-eb4c7be8-4cff-42d4-b551-50db69e44572.png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that AI Chat is repository-aware, not a generic Q&amp;A screen.</a:t>
            </a:r>
          </a:p>
          <a:p xmlns:a="http://schemas.openxmlformats.org/drawingml/2006/main">
            <a:r>
              <a:t>The example answer names auth module files and middleware paths found from the selected repository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C:/Users/DIPAKA~1/AppData/Local/Temp/codex-clipboard-b4078371-dc8e-4c57-aa32-23747dc3cf6c.png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that Repository Intelligence starts with a high-level health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C:/Users/DIPAKA~1/AppData/Local/Temp/codex-clipboard-3fec33c6-10d2-4e89-abe1-c80e53e1b05e.png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that the report is evidence-based, not just a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C:/Users/DIPAKA~1/AppData/Local/Temp/codex-clipboard-24b8ceec-af59-48b0-8b90-f50a9eb1a5b8.png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call out that recommendation rendering should unwrap object fields instead of showing [object Object].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C:/Users/DIPAKA~1/AppData/Local/Temp/codex-clipboard-cfe6bfb4-cacb-4f63-93e7-342b463b4c6a.png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C:/Users/DIPAKA~1/AppData/Local/Temp/codex-clipboard-9405c371-76b2-4a48-b19d-3f6dfa3c37ea.png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C:/Users/DIPAKA~1/AppData/Local/Temp/codex-clipboard-a1ef119c-4f60-4bd5-80b6-2a326e8e27ca.png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C:/Users/DIPAKA~1/AppData/Local/Temp/codex-clipboard-fea1cfd7-ade2-43b7-81fd-f10e2f405837.png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C:/Users/DIPAKA~1/AppData/Local/Temp/codex-clipboard-45238fc8-8222-4d03-bffd-eb021f6d4990.png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C:/Users/DIPAKA~1/AppData/Local/Temp/codex-clipboard-9734fec6-c3d1-49af-b832-09c0b01fb495.png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C:/Users/DIPAKA~1/AppData/Local/Temp/codex-clipboard-35bea36d-f33d-4974-9134-aef53987d983.png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C:/Users/DIPAKA~1/AppData/Local/Temp/codex-clipboard-adb709c3-420e-4c36-98a0-aa2db1ec5750.png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C:/Users/DIPAKA~1/AppData/Local/Temp/codex-clipboard-fdb76072-0d24-4904-9475-9ff122e51458.png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tying UI behavior to the backend architecture.</a:t>
            </a:r>
          </a:p>
          <a:p xmlns:a="http://schemas.openxmlformats.org/drawingml/2006/main">
            <a:r>
              <a:t>Mention that frontend build passes; backend has unrelated TypeScript cleanup remaining if asked.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Screenshots provided by user in current conversation.</a:t>
            </a:r>
          </a:p>
          <a:p xmlns:a="http://schemas.openxmlformats.org/drawingml/2006/main">
            <a:r>
              <a:t>Frontend route map: frontend/src/app/app.routes.ts.</a:t>
            </a:r>
          </a:p>
          <a:p xmlns:a="http://schemas.openxmlformats.org/drawingml/2006/main">
            <a:r>
              <a:t>Frontend API integration: frontend/src/app/core/api/agent-api.service.ts and frontend/src/app/core/api/github-api.service.ts.</a:t>
            </a:r>
          </a:p>
          <a:p xmlns:a="http://schemas.openxmlformats.org/drawingml/2006/main">
            <a:r>
              <a:t>Backend route map: backend/src/routes/agent.routes.ts and backend/src/routes/github.routes.ts.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72729009d4f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319a931af407b" /><Relationship Type="http://schemas.openxmlformats.org/officeDocument/2006/relationships/slideLayout" Target="/ppt/slideLayouts/slideLayout1.xml" Id="R6bdef31a21c34f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def31a21c34f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7a9df925e425e" /><Relationship Type="http://schemas.openxmlformats.org/officeDocument/2006/relationships/notesSlide" Target="/ppt/notesSlides/notesSlide1.xml" Id="Rf760e8505b744d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77b1f4a5e4bda" /><Relationship Type="http://schemas.openxmlformats.org/officeDocument/2006/relationships/image" Target="/ppt/media/image.png" Id="R979413b49c2d4aa4" /><Relationship Type="http://schemas.openxmlformats.org/officeDocument/2006/relationships/notesSlide" Target="/ppt/notesSlides/notesSlide2.xml" Id="R367fe0cac9e7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97c67f5494b26" /><Relationship Type="http://schemas.openxmlformats.org/officeDocument/2006/relationships/image" Target="/ppt/media/image2.png" Id="Rd395c32a119a44e7" /><Relationship Type="http://schemas.openxmlformats.org/officeDocument/2006/relationships/notesSlide" Target="/ppt/notesSlides/notesSlide3.xml" Id="R1f226091cebd48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f9d599bcf44ea" /><Relationship Type="http://schemas.openxmlformats.org/officeDocument/2006/relationships/image" Target="/ppt/media/image3.png" Id="Ra630c24b226b4203" /><Relationship Type="http://schemas.openxmlformats.org/officeDocument/2006/relationships/notesSlide" Target="/ppt/notesSlides/notesSlide4.xml" Id="Rcfba4c5a0e4744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62c8870f24f52" /><Relationship Type="http://schemas.openxmlformats.org/officeDocument/2006/relationships/image" Target="/ppt/media/image4.png" Id="R02e05e47e1e34dce" /><Relationship Type="http://schemas.openxmlformats.org/officeDocument/2006/relationships/notesSlide" Target="/ppt/notesSlides/notesSlide5.xml" Id="Radf9bb046f4f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73634d663423e" /><Relationship Type="http://schemas.openxmlformats.org/officeDocument/2006/relationships/image" Target="/ppt/media/image5.png" Id="R7a6b48f171864102" /><Relationship Type="http://schemas.openxmlformats.org/officeDocument/2006/relationships/notesSlide" Target="/ppt/notesSlides/notesSlide6.xml" Id="Reb85c206fca949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75961748a4e93" /><Relationship Type="http://schemas.openxmlformats.org/officeDocument/2006/relationships/image" Target="/ppt/media/image6.png" Id="Rb74493a2ad9f425b" /><Relationship Type="http://schemas.openxmlformats.org/officeDocument/2006/relationships/notesSlide" Target="/ppt/notesSlides/notesSlide7.xml" Id="R33cf6da21cb24d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f003fa1d94d72" /><Relationship Type="http://schemas.openxmlformats.org/officeDocument/2006/relationships/image" Target="/ppt/media/image7.png" Id="R679fc088411e45fa" /><Relationship Type="http://schemas.openxmlformats.org/officeDocument/2006/relationships/notesSlide" Target="/ppt/notesSlides/notesSlide8.xml" Id="R173b6521c19a4e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c4fa500424937" /><Relationship Type="http://schemas.openxmlformats.org/officeDocument/2006/relationships/image" Target="/ppt/media/image8.png" Id="R0e270dd10ca54af3" /><Relationship Type="http://schemas.openxmlformats.org/officeDocument/2006/relationships/notesSlide" Target="/ppt/notesSlides/notesSlide9.xml" Id="R8b2ebba31c984e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eda7468294287" /><Relationship Type="http://schemas.openxmlformats.org/officeDocument/2006/relationships/image" Target="/ppt/media/image9.png" Id="R4bf729460dbe4307" /><Relationship Type="http://schemas.openxmlformats.org/officeDocument/2006/relationships/notesSlide" Target="/ppt/notesSlides/notesSlide10.xml" Id="R7fc112bd712746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2647bc84e4633" /><Relationship Type="http://schemas.openxmlformats.org/officeDocument/2006/relationships/image" Target="/ppt/media/image10.png" Id="R5a81e305c55948ca" /><Relationship Type="http://schemas.openxmlformats.org/officeDocument/2006/relationships/notesSlide" Target="/ppt/notesSlides/notesSlide11.xml" Id="R4def1c2cd53447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a51f8d14a4b15" /><Relationship Type="http://schemas.openxmlformats.org/officeDocument/2006/relationships/image" Target="/ppt/media/image11.png" Id="R35578dbde91a469b" /><Relationship Type="http://schemas.openxmlformats.org/officeDocument/2006/relationships/notesSlide" Target="/ppt/notesSlides/notesSlide12.xml" Id="R08cdb471162745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a3ffdff124f7e" /><Relationship Type="http://schemas.openxmlformats.org/officeDocument/2006/relationships/image" Target="/ppt/media/image12.png" Id="R2cca83347b3d4142" /><Relationship Type="http://schemas.openxmlformats.org/officeDocument/2006/relationships/notesSlide" Target="/ppt/notesSlides/notesSlide13.xml" Id="R47647f20981b4e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4e695f544418d" /><Relationship Type="http://schemas.openxmlformats.org/officeDocument/2006/relationships/image" Target="/ppt/media/image13.png" Id="R7fbabc5e33b34b41" /><Relationship Type="http://schemas.openxmlformats.org/officeDocument/2006/relationships/notesSlide" Target="/ppt/notesSlides/notesSlide14.xml" Id="R0583f2ea320f47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cf2f7aafe4543" /><Relationship Type="http://schemas.openxmlformats.org/officeDocument/2006/relationships/image" Target="/ppt/media/image14.png" Id="R1d48a3ffe6414511" /><Relationship Type="http://schemas.openxmlformats.org/officeDocument/2006/relationships/notesSlide" Target="/ppt/notesSlides/notesSlide15.xml" Id="R124b9343203a4c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d0f215c2a4224" /><Relationship Type="http://schemas.openxmlformats.org/officeDocument/2006/relationships/notesSlide" Target="/ppt/notesSlides/notesSlide16.xml" Id="Rf4e8924ade0741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C251E-2565-49C2-AE01-1960CC45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08326-26C9-461A-8E5C-D4C9E89B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71126"/>
                </a:solidFill>
              </a:defRPr>
            </a:pPr>
            <a:r>
              <a:rPr sz="4650" b="1">
                <a:solidFill>
                  <a:srgbClr val="071126"/>
                </a:solidFill>
              </a:rPr>
              <a:t>GitArchitect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84765-9BDB-4415-9783-80A530C0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179"/>
                </a:solidFill>
              </a:defRPr>
            </a:pPr>
            <a:r>
              <a:rPr sz="2250" b="0">
                <a:solidFill>
                  <a:srgbClr val="536179"/>
                </a:solidFill>
              </a:rPr>
              <a:t>AI-powered GitHub engineering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8AF2E-F84D-4E02-BAEE-38FDA582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1126"/>
                </a:solidFill>
              </a:defRPr>
            </a:pPr>
            <a:r>
              <a:rPr sz="1725" b="0">
                <a:solidFill>
                  <a:srgbClr val="071126"/>
                </a:solidFill>
              </a:rPr>
              <a:t>Application: Select a repository, analyze issues, review PRs, debug CI, and prepare GitHub actions.</a:t>
            </a:r>
          </a:p>
          <a:p xmlns:a="http://schemas.openxmlformats.org/drawingml/2006/main">
            <a:pPr algn="l">
              <a:defRPr sz="1725" b="0">
                <a:solidFill>
                  <a:srgbClr val="071126"/>
                </a:solidFill>
              </a:defRPr>
            </a:pPr>
            <a:r>
              <a:rPr sz="1725" b="0">
                <a:solidFill>
                  <a:srgbClr val="071126"/>
                </a:solidFill>
              </a:rPr>
              <a:t>AI Agent: Uses session context and GitHub evidence to return structured engineering insights.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D8D2D-A599-4F7E-A0DA-3891A7E4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62050"/>
            <a:ext cx="2667000" cy="3429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924B1-AD13-45E2-AC06-773DD6F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43050"/>
            <a:ext cx="2095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Dashboard</a:t>
            </a:r>
          </a:p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Repositories</a:t>
            </a:r>
          </a:p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AI Chat</a:t>
            </a:r>
          </a:p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Repository Intelligence</a:t>
            </a:r>
          </a:p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PR Review</a:t>
            </a:r>
          </a:p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Issue Analyzer</a:t>
            </a:r>
          </a:p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CI Debugger</a:t>
            </a:r>
          </a:p>
          <a:p xmlns:a="http://schemas.openxmlformats.org/drawingml/2006/main">
            <a:pPr algn="ctr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GitHub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0AFC9-733A-45A2-A9E4-932D3CA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</a:t>
            </a:r>
          </a:p>
        </p:txBody>
      </p:sp>
    </p:spTree>
    <p:extLst>
      <p:ext uri="{BB962C8B-B14F-4D97-AF65-F5344CB8AC3E}">
        <p14:creationId xmlns:p14="http://schemas.microsoft.com/office/powerpoint/2010/main" val="682228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792CF-AD9D-4C55-8B58-40730C9B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A3D4A-9492-4B45-9B1A-6B9F7FC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Dashboard confirms the working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421BC-16BD-46C7-B940-9355438F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team can quickly see connection, session, repository, and available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BFE6F-410C-4F0A-92B0-4C4FBC6A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413b49c2d4aa4"/>
          <a:stretch xmlns:a="http://schemas.openxmlformats.org/drawingml/2006/main"/>
        </p:blipFill>
        <p:spPr>
          <a:xfrm xmlns:a="http://schemas.openxmlformats.org/drawingml/2006/main">
            <a:off x="514350" y="1879474"/>
            <a:ext cx="6762750" cy="3575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BF1FC-157A-4195-8EA7-BCB058A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CC8DD-FE06-4456-8524-46AE2E3D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GitHub Connected status confirms the GitHub token is usable.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Session is Active and repository is already selected.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Workflow tiles provide navigation to analysis and GitHub action pages.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A88B7-ACC9-40E8-9D33-D50CEFB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206C5-9E24-4511-B55F-75E9E16A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GET /api/v1/github/auth/status checks GitHub connectivity.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Session id is stored in AppSessionService and localStorage.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Repository context is reused by all repository-aware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56040-7605-4218-A325-B501F6A8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2</a:t>
            </a:r>
          </a:p>
        </p:txBody>
      </p:sp>
    </p:spTree>
    <p:extLst>
      <p:ext uri="{BB962C8B-B14F-4D97-AF65-F5344CB8AC3E}">
        <p14:creationId xmlns:p14="http://schemas.microsoft.com/office/powerpoint/2010/main" val="1599599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CA7A9-CE3C-4535-A578-4842A2B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F2C46-FD8E-467F-BBA9-B4566EA1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Repositories page selects the repo for the whole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AD4FB-0F46-497D-A510-2039AFAA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This is the setup step before analysis, PR review, issue analysis, CI debugging, or writes.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ECEEF-2CF6-4DE5-A6E8-9513A407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5c32a119a44e7"/>
          <a:stretch xmlns:a="http://schemas.openxmlformats.org/drawingml/2006/main"/>
        </p:blipFill>
        <p:spPr>
          <a:xfrm xmlns:a="http://schemas.openxmlformats.org/drawingml/2006/main">
            <a:off x="514350" y="1873358"/>
            <a:ext cx="6762750" cy="358753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C5854-4AF2-49C5-A68E-0496414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9ABDC-3C6C-4137-BFA8-BB8FADF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Accessible GitHub repositories are listed with branch, language, and privacy.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Search helps locate the target repository.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Selected repo is highlighted and saved as the active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451D9-2481-457A-96EC-BE9FDBB8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32FC2-0C8D-4ACB-919A-C9BD6F8C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GET /api/v1/github/repos lists accessible repositories.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PUT /api/v1/agent/sessions/:sessionId/repository verifies and stores the repo.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Backend stores owner, repo, fullName, defaultBranch, URL, and privacy.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667B1-91A6-47BE-A712-CD975E4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3</a:t>
            </a:r>
          </a:p>
        </p:txBody>
      </p:sp>
    </p:spTree>
    <p:extLst>
      <p:ext uri="{BB962C8B-B14F-4D97-AF65-F5344CB8AC3E}">
        <p14:creationId xmlns:p14="http://schemas.microsoft.com/office/powerpoint/2010/main" val="207206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71CA7-6C4D-48B5-9C5D-3566E7E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E7014-25BA-4D07-886D-0D15C44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AI Chat answers from repository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91CCA-2FC2-4393-A1D5-22327A9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chat page can locate implementation areas such as authentication in the selected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ABB32-A6AD-4A5C-85F1-7CE49862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0c24b226b4203"/>
          <a:stretch xmlns:a="http://schemas.openxmlformats.org/drawingml/2006/main"/>
        </p:blipFill>
        <p:spPr>
          <a:xfrm xmlns:a="http://schemas.openxmlformats.org/drawingml/2006/main">
            <a:off x="514350" y="1883930"/>
            <a:ext cx="6762750" cy="356639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64174-B24F-430C-9E13-208E785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17804-D305-4ABF-B518-BF1A15C7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User asks where authentication is implemented.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GitArchitect returns concrete backend paths and files.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Answer separates module code from route-protection middleware.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E9C8F-12CB-4F0C-ABF4-F338411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1AD8B-15B0-4F52-BE09-7CD9D0DC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POST /api/v1/agent/chat sends sessionId and message.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Backend loads repository context from the active session.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GitArchitect agent uses GitHub MCP to inspect repository 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D7F80-1364-4AE2-AFB1-D1139FD4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4</a:t>
            </a:r>
          </a:p>
        </p:txBody>
      </p:sp>
    </p:spTree>
    <p:extLst>
      <p:ext uri="{BB962C8B-B14F-4D97-AF65-F5344CB8AC3E}">
        <p14:creationId xmlns:p14="http://schemas.microsoft.com/office/powerpoint/2010/main" val="1950502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719EA-02A6-4A9A-95D8-AF5D346C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3BC7A-55F4-43C3-BA9F-9B628DE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Repository Intelligence summarizes repository 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87F6F-EA33-4935-9037-A2549EA1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first result view gives leadership-level signals before detailed findings.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AA337-4DB1-4109-AA84-7DB00EF4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05e47e1e34dce"/>
          <a:stretch xmlns:a="http://schemas.openxmlformats.org/drawingml/2006/main"/>
        </p:blipFill>
        <p:spPr>
          <a:xfrm xmlns:a="http://schemas.openxmlformats.org/drawingml/2006/main">
            <a:off x="514350" y="1858979"/>
            <a:ext cx="6762750" cy="361629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9680E-54E9-4F62-B27B-59D93CB8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0789A-1DCD-49D9-81FB-B57756CF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Overall score, project type, and analysis engine are visible immediately.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Specialists identify the repository lens used for analysis.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Summary, score breakdown, and stack discovery make the report scannable.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ACD63-4389-4061-8718-FA3D8F1E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DE968-0685-4986-9A36-57B2E4B5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POST /sessions/:sessionId/repository-analysis starts the report.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Backend resolves selected repository from sessionId before analysis.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Repository discovery identifies project type, stack, and specialist routing.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1C34A-D393-4204-BEE8-5B089E5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5</a:t>
            </a:r>
          </a:p>
        </p:txBody>
      </p:sp>
    </p:spTree>
    <p:extLst>
      <p:ext uri="{BB962C8B-B14F-4D97-AF65-F5344CB8AC3E}">
        <p14:creationId xmlns:p14="http://schemas.microsoft.com/office/powerpoint/2010/main" val="2131354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787D2-E63A-47F8-9EA6-4646C96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1CCB5-FAD7-4929-84BF-381B353C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Repository Intelligence exposes strengths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2CA7D-F8A8-464B-8CD0-96FAD289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Detailed findings connect recommendations to concrete repository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7D4EF-BB7A-4CC4-BB3B-6988656C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b48f171864102"/>
          <a:stretch xmlns:a="http://schemas.openxmlformats.org/drawingml/2006/main"/>
        </p:blipFill>
        <p:spPr>
          <a:xfrm xmlns:a="http://schemas.openxmlformats.org/drawingml/2006/main">
            <a:off x="655954" y="1619250"/>
            <a:ext cx="6479541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2A223-4E1E-43E4-BE4F-095EE1E6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94FEC-00D6-462C-BC3E-7F0B951B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Strengths show what is already working in the repo.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Findings are grouped by severity and category.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Each finding includes evidence paths so the team can verify the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2D9B2-E6BF-404D-8310-FC1C3893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31D1F-5F07-45A3-A5E8-164A36B2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Specialist agents inspect architecture, code organization, security, scalability, and testing.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Agents return structured findings with severity, category, title, and evidence.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Frontend renders each finding as a readable evidence card.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264D0-2F96-46D1-8B2E-0E7BD57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6</a:t>
            </a:r>
          </a:p>
        </p:txBody>
      </p:sp>
    </p:spTree>
    <p:extLst>
      <p:ext uri="{BB962C8B-B14F-4D97-AF65-F5344CB8AC3E}">
        <p14:creationId xmlns:p14="http://schemas.microsoft.com/office/powerpoint/2010/main" val="143673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7DB2E-BA5D-4E21-8379-3FC757C4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14113-11E6-410E-90E2-E5E3593C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Repository Intelligence turns analysis into next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4DCEB-A30A-4ED0-817A-452ABE5D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lower result sections capture additional findings and recommendations.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C3193-2E26-4161-8972-34A08C9C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493a2ad9f425b"/>
          <a:stretch xmlns:a="http://schemas.openxmlformats.org/drawingml/2006/main"/>
        </p:blipFill>
        <p:spPr>
          <a:xfrm xmlns:a="http://schemas.openxmlformats.org/drawingml/2006/main">
            <a:off x="640958" y="1619250"/>
            <a:ext cx="6509534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22958-1D08-46F2-B6C4-50513702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4F4D8-AF47-4481-B078-20152E90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Additional findings cover testing and dependency health.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Recommendations section is intended to convert findings into next steps.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Raw analysis response is available for deeper debugging or backend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4B344-A363-4AFA-9FCE-16B0A099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75187-CEC2-454F-BBC6-DE1CE247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Aggregator combines specialist output into one repository report.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Frontend should render recommendation objects into titles and descriptions.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Raw response helps diagnose mapping issues such as [object Object].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7088E-E29A-42DF-87DB-6DD76EED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7</a:t>
            </a:r>
          </a:p>
        </p:txBody>
      </p:sp>
    </p:spTree>
    <p:extLst>
      <p:ext uri="{BB962C8B-B14F-4D97-AF65-F5344CB8AC3E}">
        <p14:creationId xmlns:p14="http://schemas.microsoft.com/office/powerpoint/2010/main" val="1186082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44A53-1F48-494C-9E06-2BCAEDEE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D00C9-D50E-465A-B95A-253D1916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PR Review summarizes the pull request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78589-9BE8-42A5-972C-DC87003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top section shows the decision fields the team needs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48CEF-ABA1-474A-9067-8313F67D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fc088411e45fa"/>
          <a:stretch xmlns:a="http://schemas.openxmlformats.org/drawingml/2006/main"/>
        </p:blipFill>
        <p:spPr>
          <a:xfrm xmlns:a="http://schemas.openxmlformats.org/drawingml/2006/main">
            <a:off x="514350" y="1875120"/>
            <a:ext cx="6762750" cy="35840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B63B0-1595-4805-93E4-C150A0CF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932D3-3C9E-4C3A-85D6-B679471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Input accepts a PR number, then renders PR #, status, title, author, and branches.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Recommendation, risk, overall score, changed files, additions, deletions, and check status are visible.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Summary explains the practical impact of the PR.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672FD-8A77-4C17-93E2-FF547C71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41238-18F9-4817-928C-2C0D0DAB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POST /api/v1/agent/sessions/:sessionId/pull-requests/:pullNumber/review.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Backend returns { repository, pullNumber, overallScore, review }.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Frontend unwraps response.data.review and displays nested pullRequest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E5402-8B15-4730-8859-31C62488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8</a:t>
            </a:r>
          </a:p>
        </p:txBody>
      </p:sp>
    </p:spTree>
    <p:extLst>
      <p:ext uri="{BB962C8B-B14F-4D97-AF65-F5344CB8AC3E}">
        <p14:creationId xmlns:p14="http://schemas.microsoft.com/office/powerpoint/2010/main" val="219357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9D3CE-240C-4562-89C7-AF36C90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832C9-97CC-4BFE-9FF1-F612FA37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PR Review details show evidence behind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8EF40-3732-4469-95EC-D16C9225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Scores, positives, testing assessment, checks, findings, and limitations explain the review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34DEC-2E29-4A5D-93C1-61BEFF8E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70dd10ca54af3"/>
          <a:stretch xmlns:a="http://schemas.openxmlformats.org/drawingml/2006/main"/>
        </p:blipFill>
        <p:spPr>
          <a:xfrm xmlns:a="http://schemas.openxmlformats.org/drawingml/2006/main">
            <a:off x="640386" y="1619250"/>
            <a:ext cx="6510678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D4475-EE5A-4BB3-944C-9FAFCC5B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4FB7F-FD38-479B-B838-DC2C88B3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Score grid breaks the review into correctness, architecture, maintainability, security, performance, testing, and overall.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Files Reviewed and Positives show review scope and safe parts.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Checks and Limitations make API access constraints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9B521-5A34-46DE-A283-1E41176E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63832-F5B7-43C5-960A-E4E9A0D0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PR review agent reads PR metadata, changed files, diff, checks, and repository evidence.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If check runs are inaccessible, backend returns checks.status = unavailable with notes.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Frontend renders findings and limitations instead of hiding missing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877C9-9377-4E19-AA18-A439137C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9</a:t>
            </a:r>
          </a:p>
        </p:txBody>
      </p:sp>
    </p:spTree>
    <p:extLst>
      <p:ext uri="{BB962C8B-B14F-4D97-AF65-F5344CB8AC3E}">
        <p14:creationId xmlns:p14="http://schemas.microsoft.com/office/powerpoint/2010/main" val="1904411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0726D-9957-4666-8873-DBB97FF3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F74D-5DB8-448B-8BE7-91B2C39B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Issue Analyzer turns an issue into an implementation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532DF-9DCE-473D-B945-24F7B948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first section captures issue identity, readiness, confidence, summary, and problem statement.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56A8A-77F5-4DDE-B58C-91C3F6A6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729460dbe4307"/>
          <a:stretch xmlns:a="http://schemas.openxmlformats.org/drawingml/2006/main"/>
        </p:blipFill>
        <p:spPr>
          <a:xfrm xmlns:a="http://schemas.openxmlformats.org/drawingml/2006/main">
            <a:off x="514350" y="1860270"/>
            <a:ext cx="6762750" cy="361371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0D457-1C69-4A9A-BB11-BEC8827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FA1E8-605E-4CA3-BB87-AD833CE6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Issue number, type, readiness, and confidence are visible at the top.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Issue title and author identify the source request.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Summary and Problem Statement translate the issue into engineering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D01D1-816F-414D-B3AF-863336E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59E3B-A322-4FA2-826F-B8CD3C08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POST /api/v1/agent/sessions/:sessionId/issues/:issueNumber/analyze.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Backend returns { issueNumber, analysis }.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Frontend unwraps response.data.analysis and binds nested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D3DA7-6176-452C-91FF-1D43FB15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10</a:t>
            </a:r>
          </a:p>
        </p:txBody>
      </p:sp>
    </p:spTree>
    <p:extLst>
      <p:ext uri="{BB962C8B-B14F-4D97-AF65-F5344CB8AC3E}">
        <p14:creationId xmlns:p14="http://schemas.microsoft.com/office/powerpoint/2010/main" val="28802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F84A7-9DF1-44E0-90E6-85FE982F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F2E0C-DCB3-461E-8D55-B8B37D6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Issue Analyzer separates explicit, inferred, and missing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9C082-2FC8-4753-86DC-52F5BC01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This helps the team know what is clear and what must be clarified before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7EB68-5894-4422-9A16-5CFB19C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1e305c55948ca"/>
          <a:stretch xmlns:a="http://schemas.openxmlformats.org/drawingml/2006/main"/>
        </p:blipFill>
        <p:spPr>
          <a:xfrm xmlns:a="http://schemas.openxmlformats.org/drawingml/2006/main">
            <a:off x="548509" y="1619250"/>
            <a:ext cx="6694433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ED560-9E0C-45A8-8651-37051DB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36879-80F4-4802-9180-F61E8B48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Root cause section states whether a bug-style hypothesis applies.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Explicit requirements are separated from inferred and missing requirements.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Acceptance criteria and affected areas become visible implementation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F67B5-438C-4C0D-B882-75B33616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BF8E5-273A-45DE-ACDA-7D48AF1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Issue analyzer agent reads issue body, comments, labels, and repository files.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Schema groups requirements as explicit, inferred, and missing.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Affected areas include reasons and evidence paths from repository inspection.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FAA06-54F1-4986-AD07-A43F9A95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11</a:t>
            </a:r>
          </a:p>
        </p:txBody>
      </p:sp>
    </p:spTree>
    <p:extLst>
      <p:ext uri="{BB962C8B-B14F-4D97-AF65-F5344CB8AC3E}">
        <p14:creationId xmlns:p14="http://schemas.microsoft.com/office/powerpoint/2010/main" val="19284280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09AFC-39EC-4991-AF03-B1FE56FB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21342-AA15-433F-9C10-B362425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Issue Analyzer proposes implementation and testing plans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B0788-717A-455F-928F-CD7AECC0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middle section converts analysis into concrete next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5217B-833A-4122-97E5-E67BDCB9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78dbde91a469b"/>
          <a:stretch xmlns:a="http://schemas.openxmlformats.org/drawingml/2006/main"/>
        </p:blipFill>
        <p:spPr>
          <a:xfrm xmlns:a="http://schemas.openxmlformats.org/drawingml/2006/main">
            <a:off x="551064" y="1619250"/>
            <a:ext cx="6689322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63738-6125-4BE0-9A92-75CBDCF9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AD027-4169-43D1-850E-41EC7D42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Implementation Plan lists ordered steps, scope clarification, inspection, and test creation.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Testing Plan describes unit, regression, and manual validation paths.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Files and validation notes connect the plan to repository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42A0-B048-4417-9071-468C229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25859-CD0C-4A6A-95A7-191F6DD9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Structured schema returns implementationPlan objects with order, title, files, and validation.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testingPlan returns type, scenario, and expectedResult.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Frontend renders object fields as readable cards/lists.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8C357-7091-40D1-A6E6-4680A52E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12</a:t>
            </a:r>
          </a:p>
        </p:txBody>
      </p:sp>
    </p:spTree>
    <p:extLst>
      <p:ext uri="{BB962C8B-B14F-4D97-AF65-F5344CB8AC3E}">
        <p14:creationId xmlns:p14="http://schemas.microsoft.com/office/powerpoint/2010/main" val="421633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38134-2146-4A07-82B1-4A68D8DE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77648-3D6A-4BF9-B52E-8D8F6CCC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Issue Analyzer exposes risks, questions, and related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938B-569B-4BF4-AF86-86CA4824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final section shows unresolved decisions and likely code touchpoints.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EAF53-228D-4B19-81B6-AF1D208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a83347b3d4142"/>
          <a:stretch xmlns:a="http://schemas.openxmlformats.org/drawingml/2006/main"/>
        </p:blipFill>
        <p:spPr>
          <a:xfrm xmlns:a="http://schemas.openxmlformats.org/drawingml/2006/main">
            <a:off x="535835" y="1619250"/>
            <a:ext cx="6719779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9F40-5172-4705-9316-23AA8330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87D27-03E9-4E52-A3C3-4B7BA6A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Risks explain ambiguity and tooling mismatch concerns.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Questions identify decisions the team must answer before coding.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Related Files show likely change/reference paths such as package.json and modules.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CE786-9562-4EBB-8445-AAEC5CC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7252F-395B-482F-AB67-F4BF870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Issue analyzer returns risks with level, risk, and mitigation.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relatedFiles contains path, relevance, and likelyChange.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This section prevents speculative implementation when issue detail is missing.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A2577-D8C5-4F07-BC4F-6388161C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13</a:t>
            </a:r>
          </a:p>
        </p:txBody>
      </p:sp>
    </p:spTree>
    <p:extLst>
      <p:ext uri="{BB962C8B-B14F-4D97-AF65-F5344CB8AC3E}">
        <p14:creationId xmlns:p14="http://schemas.microsoft.com/office/powerpoint/2010/main" val="1459990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23CEE-C015-42D0-B204-11287D57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BA4C5-EEEE-4AA4-AD1A-697A530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CI Debugger is ready for workflow-run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27966-C15D-4D69-AA67-1481C02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The user provides a GitHub Actions run id to diagnose failed jobs and logs.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BADAC-A9F0-4DDA-95EB-1A19FE62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abc5e33b34b41"/>
          <a:stretch xmlns:a="http://schemas.openxmlformats.org/drawingml/2006/main"/>
        </p:blipFill>
        <p:spPr>
          <a:xfrm xmlns:a="http://schemas.openxmlformats.org/drawingml/2006/main">
            <a:off x="514350" y="2481265"/>
            <a:ext cx="6762750" cy="237172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46A1C-A667-4CB5-B120-182EEC6C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E9861-EC6D-47EA-BBD9-B054BBC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Input accepts a GitHub Actions run id.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The page is disabled until a repository is selected and run id is present.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After execution, it shows failure category, root cause, failed jobs, logs, fixes, and validation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A9660-E6DA-41DD-8CB3-A1FA9F09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807ED-4984-4E1C-AC69-1BBAD07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POST /api/v1/agent/sessions/:sessionId/actions/runs/:runId/debug.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Backend CI debugger agent reads workflow run, failed jobs, logs, workflow config, and related code.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Output is structured as root cause plus proposed fix and validation plan.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AB4F4-223F-4C9F-A654-E8EB5DB7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14</a:t>
            </a:r>
          </a:p>
        </p:txBody>
      </p:sp>
    </p:spTree>
    <p:extLst>
      <p:ext uri="{BB962C8B-B14F-4D97-AF65-F5344CB8AC3E}">
        <p14:creationId xmlns:p14="http://schemas.microsoft.com/office/powerpoint/2010/main" val="837433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472B9-D59F-4828-AE60-0C57D1E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2EE6D-C6E7-4AFD-ADF6-3439C350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GitHub Actions page keeps mutations human-approved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CDA34-4C26-4E7E-B421-4F06F789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Write operations are scoped to the selected repository and run only after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19F34-1B98-4CD8-B478-2E5C32F3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69151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8a3ffe6414511"/>
          <a:stretch xmlns:a="http://schemas.openxmlformats.org/drawingml/2006/main"/>
        </p:blipFill>
        <p:spPr>
          <a:xfrm xmlns:a="http://schemas.openxmlformats.org/drawingml/2006/main">
            <a:off x="514350" y="2255723"/>
            <a:ext cx="6762750" cy="282280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30005-F631-402C-A6B1-28D3EC7A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this screen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909DB-C664-4273-80F2-34BFFA8F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667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Instruction box captures the requested GitHub mutation.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Repository scope is displayed before preparing the action.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Completed status explains when a request cannot be executed directly, such as an unstable PR merge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D21C3-D56C-4BB2-B664-DCB4EAB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9BCBE-383F-4F8C-B0C9-C7F00B8B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3667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POST /sessions/:sessionId/github/write prepares the action.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If a write tool is proposed, backend stores paused RunState and returns approvalId.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POST /github/approvals/:approvalId/decision approves or rejects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00D1C-76D7-42FB-8802-CB5C4C7C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15</a:t>
            </a:r>
          </a:p>
        </p:txBody>
      </p:sp>
    </p:spTree>
    <p:extLst>
      <p:ext uri="{BB962C8B-B14F-4D97-AF65-F5344CB8AC3E}">
        <p14:creationId xmlns:p14="http://schemas.microsoft.com/office/powerpoint/2010/main" val="15601058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2D625-741D-40F5-B425-623F6E1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79"/>
                </a:solidFill>
              </a:defRPr>
            </a:pPr>
            <a:r>
              <a:rPr sz="1050" b="1">
                <a:solidFill>
                  <a:srgbClr val="536179"/>
                </a:solidFill>
              </a:rPr>
              <a:t>GITARCHITECT UI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D6E79-7883-4A1B-9D81-5C127004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26"/>
                </a:solidFill>
              </a:defRPr>
            </a:pPr>
            <a:r>
              <a:rPr sz="2700" b="1">
                <a:solidFill>
                  <a:srgbClr val="071126"/>
                </a:solidFill>
              </a:rPr>
              <a:t>Presentation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E4CF4-591C-4676-BFE6-602474FC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9"/>
                </a:solidFill>
              </a:defRPr>
            </a:pPr>
            <a:r>
              <a:rPr sz="1350" b="0">
                <a:solidFill>
                  <a:srgbClr val="536179"/>
                </a:solidFill>
              </a:rPr>
              <a:t>Every workflow is session-scoped, repository-aware, and evidence-based.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6532-9327-467C-90BE-1DB05E5A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What to emphasize to the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EA8DC-43E5-4E5C-8A02-EA1216B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857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Repository selection is the key setup step because it populates backend context.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Analysis pages now render nested backend responses correctly.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PR Review and Issue Analyzer expose both findings and limitations instead of hiding uncertainty.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GitHub writes remain controlled by human approval before mutation tools execute.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38DCA-FD52-4F75-AC86-4D06505F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26"/>
                </a:solidFill>
              </a:defRPr>
            </a:pPr>
            <a:r>
              <a:rPr sz="1650" b="1">
                <a:solidFill>
                  <a:srgbClr val="071126"/>
                </a:solidFill>
              </a:rPr>
              <a:t>Backend story in one 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21FE4-A5BA-43E6-B44A-2AA0668B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381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Angular sends workflow input plus sessionId.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Express resolves the selected repository from MongoDB.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OpenAI agents inspect GitHub through MCP.</a:t>
            </a:r>
          </a:p>
          <a:p xmlns:a="http://schemas.openxmlformats.org/drawingml/2006/main">
            <a:pPr algn="l">
              <a:defRPr sz="1275" b="0">
                <a:solidFill>
                  <a:srgbClr val="536179"/>
                </a:solidFill>
              </a:defRPr>
            </a:pPr>
            <a:r>
              <a:rPr sz="1275" b="0">
                <a:solidFill>
                  <a:srgbClr val="536179"/>
                </a:solidFill>
              </a:rPr>
              <a:t>• Structured responses return to Angular cards and detail sections.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7910E-9D38-4540-BC3A-902F64A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3D6B4-5646-413C-A0F3-35AB3505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911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26"/>
                </a:solidFill>
              </a:defRPr>
            </a:pPr>
            <a:r>
              <a:rPr sz="1800" b="1">
                <a:solidFill>
                  <a:srgbClr val="071126"/>
                </a:solidFill>
              </a:rPr>
              <a:t>Demo flow: Dashboard → Repositories → PR Review → Issue Analyzer → GitHub Actions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73154-CF50-4E3D-A557-E70F11E7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79"/>
                </a:solidFill>
              </a:defRPr>
            </a:pPr>
            <a:r>
              <a:rPr sz="975" b="0">
                <a:solidFill>
                  <a:srgbClr val="536179"/>
                </a:solidFill>
              </a:rPr>
              <a:t>GitArchitect presentation | 16</a:t>
            </a:r>
          </a:p>
        </p:txBody>
      </p:sp>
    </p:spTree>
    <p:extLst>
      <p:ext uri="{BB962C8B-B14F-4D97-AF65-F5344CB8AC3E}">
        <p14:creationId xmlns:p14="http://schemas.microsoft.com/office/powerpoint/2010/main" val="102398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2026-08-20T02:13:35.3670000Z</dcterms:created>
  <dcterms:modified xsi:type="dcterms:W3CDTF">2026-08-20T02:13:35.3680000Z</dcterms:modified>
</coreProperties>
</file>