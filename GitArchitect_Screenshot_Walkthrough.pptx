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d257a9c7904f06" /><Relationship Type="http://schemas.openxmlformats.org/officeDocument/2006/relationships/extended-properties" Target="/docProps/app.xml" Id="Rf91143f909a14d44" /><Relationship Type="http://schemas.openxmlformats.org/officeDocument/2006/relationships/officeDocument" Target="/ppt/presentation.xml" Id="R1d7cd5c7236542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28959602ab4ab0"/>
  </p:sldMasterIdLst>
  <p:notesMasterIdLst>
    <p:notesMasterId xmlns:r="http://schemas.openxmlformats.org/officeDocument/2006/relationships" r:id="Ra3e297b0c9644913"/>
  </p:notesMasterIdLst>
  <p:sldIdLst>
    <p:sldId xmlns:r="http://schemas.openxmlformats.org/officeDocument/2006/relationships" id="256" r:id="Rc14acc846e1c4c1f"/>
    <p:sldId xmlns:r="http://schemas.openxmlformats.org/officeDocument/2006/relationships" id="257" r:id="R85aab1935dbc4f34"/>
    <p:sldId xmlns:r="http://schemas.openxmlformats.org/officeDocument/2006/relationships" id="258" r:id="R9aa1ef91676e46ed"/>
    <p:sldId xmlns:r="http://schemas.openxmlformats.org/officeDocument/2006/relationships" id="259" r:id="R0d8d30ddd9914fd7"/>
    <p:sldId xmlns:r="http://schemas.openxmlformats.org/officeDocument/2006/relationships" id="260" r:id="R50edf295a01940a9"/>
    <p:sldId xmlns:r="http://schemas.openxmlformats.org/officeDocument/2006/relationships" id="261" r:id="R4004d0304b37402a"/>
    <p:sldId xmlns:r="http://schemas.openxmlformats.org/officeDocument/2006/relationships" id="262" r:id="Rb604cff2b9a04ee8"/>
    <p:sldId xmlns:r="http://schemas.openxmlformats.org/officeDocument/2006/relationships" id="263" r:id="R35bb1fc50a484fef"/>
    <p:sldId xmlns:r="http://schemas.openxmlformats.org/officeDocument/2006/relationships" id="264" r:id="Rdfb59bc353f44156"/>
    <p:sldId xmlns:r="http://schemas.openxmlformats.org/officeDocument/2006/relationships" id="265" r:id="R6de6b75642c0454b"/>
    <p:sldId xmlns:r="http://schemas.openxmlformats.org/officeDocument/2006/relationships" id="266" r:id="Raa66813e82024834"/>
    <p:sldId xmlns:r="http://schemas.openxmlformats.org/officeDocument/2006/relationships" id="267" r:id="R3322365c6b5b496a"/>
    <p:sldId xmlns:r="http://schemas.openxmlformats.org/officeDocument/2006/relationships" id="268" r:id="Rd0b9e93ab0d54d33"/>
    <p:sldId xmlns:r="http://schemas.openxmlformats.org/officeDocument/2006/relationships" id="269" r:id="R0629b1abc02e4d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77188a7501449b" /><Relationship Type="http://schemas.openxmlformats.org/officeDocument/2006/relationships/slideMaster" Target="/ppt/slideMasters/slideMaster1.xml" Id="R4128959602ab4ab0" /><Relationship Type="http://schemas.openxmlformats.org/officeDocument/2006/relationships/notesMaster" Target="/ppt/notesMasters/notesMaster1.xml" Id="Ra3e297b0c9644913" /><Relationship Type="http://schemas.openxmlformats.org/officeDocument/2006/relationships/presProps" Target="/ppt/presProps.xml" Id="R268f33e6fe734aa0" /><Relationship Type="http://schemas.openxmlformats.org/officeDocument/2006/relationships/tableStyles" Target="/ppt/tableStyles.xml" Id="R12e9f3d15fa74c34" /><Relationship Type="http://schemas.openxmlformats.org/officeDocument/2006/relationships/slide" Target="/ppt/slides/slide1.xml" Id="Rc14acc846e1c4c1f" /><Relationship Type="http://schemas.openxmlformats.org/officeDocument/2006/relationships/slide" Target="/ppt/slides/slide2.xml" Id="R85aab1935dbc4f34" /><Relationship Type="http://schemas.openxmlformats.org/officeDocument/2006/relationships/slide" Target="/ppt/slides/slide3.xml" Id="R9aa1ef91676e46ed" /><Relationship Type="http://schemas.openxmlformats.org/officeDocument/2006/relationships/slide" Target="/ppt/slides/slide4.xml" Id="R0d8d30ddd9914fd7" /><Relationship Type="http://schemas.openxmlformats.org/officeDocument/2006/relationships/slide" Target="/ppt/slides/slide5.xml" Id="R50edf295a01940a9" /><Relationship Type="http://schemas.openxmlformats.org/officeDocument/2006/relationships/slide" Target="/ppt/slides/slide6.xml" Id="R4004d0304b37402a" /><Relationship Type="http://schemas.openxmlformats.org/officeDocument/2006/relationships/slide" Target="/ppt/slides/slide7.xml" Id="Rb604cff2b9a04ee8" /><Relationship Type="http://schemas.openxmlformats.org/officeDocument/2006/relationships/slide" Target="/ppt/slides/slide8.xml" Id="R35bb1fc50a484fef" /><Relationship Type="http://schemas.openxmlformats.org/officeDocument/2006/relationships/slide" Target="/ppt/slides/slide9.xml" Id="Rdfb59bc353f44156" /><Relationship Type="http://schemas.openxmlformats.org/officeDocument/2006/relationships/slide" Target="/ppt/slides/slide10.xml" Id="R6de6b75642c0454b" /><Relationship Type="http://schemas.openxmlformats.org/officeDocument/2006/relationships/slide" Target="/ppt/slides/slide11.xml" Id="Raa66813e82024834" /><Relationship Type="http://schemas.openxmlformats.org/officeDocument/2006/relationships/slide" Target="/ppt/slides/slide12.xml" Id="R3322365c6b5b496a" /><Relationship Type="http://schemas.openxmlformats.org/officeDocument/2006/relationships/slide" Target="/ppt/slides/slide13.xml" Id="Rd0b9e93ab0d54d33" /><Relationship Type="http://schemas.openxmlformats.org/officeDocument/2006/relationships/slide" Target="/ppt/slides/slide14.xml" Id="R0629b1abc02e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20de829e7748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a5304e745c4234" /><Relationship Type="http://schemas.openxmlformats.org/officeDocument/2006/relationships/notesMaster" Target="/ppt/notesMasters/notesMaster1.xml" Id="R68089022cee941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23bacc5e1c4198" /><Relationship Type="http://schemas.openxmlformats.org/officeDocument/2006/relationships/notesMaster" Target="/ppt/notesMasters/notesMaster1.xml" Id="R36d618a5e8be48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684bfc41b745c5" /><Relationship Type="http://schemas.openxmlformats.org/officeDocument/2006/relationships/notesMaster" Target="/ppt/notesMasters/notesMaster1.xml" Id="R6e0b1b01a49d48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698c7a874d4245" /><Relationship Type="http://schemas.openxmlformats.org/officeDocument/2006/relationships/notesMaster" Target="/ppt/notesMasters/notesMaster1.xml" Id="Ra5ccf1a8b7734e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9e55dc9fc34078" /><Relationship Type="http://schemas.openxmlformats.org/officeDocument/2006/relationships/notesMaster" Target="/ppt/notesMasters/notesMaster1.xml" Id="Rea9272c89ef444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405b43207d488b" /><Relationship Type="http://schemas.openxmlformats.org/officeDocument/2006/relationships/notesMaster" Target="/ppt/notesMasters/notesMaster1.xml" Id="R7d31cbe5e8f84f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b0458c3b074c00" /><Relationship Type="http://schemas.openxmlformats.org/officeDocument/2006/relationships/notesMaster" Target="/ppt/notesMasters/notesMaster1.xml" Id="Rc9a8dd2f69034b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3bfbce4b1e4cd3" /><Relationship Type="http://schemas.openxmlformats.org/officeDocument/2006/relationships/notesMaster" Target="/ppt/notesMasters/notesMaster1.xml" Id="Rdb6dddf710d540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b59aea9eeb488d" /><Relationship Type="http://schemas.openxmlformats.org/officeDocument/2006/relationships/notesMaster" Target="/ppt/notesMasters/notesMaster1.xml" Id="R2f9c5d628bc044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d3b247d2014baa" /><Relationship Type="http://schemas.openxmlformats.org/officeDocument/2006/relationships/notesMaster" Target="/ppt/notesMasters/notesMaster1.xml" Id="Ree0b550a62d040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102fc0b2dd4e44" /><Relationship Type="http://schemas.openxmlformats.org/officeDocument/2006/relationships/notesMaster" Target="/ppt/notesMasters/notesMaster1.xml" Id="R53fc335b0fc94f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1b2a117205442c" /><Relationship Type="http://schemas.openxmlformats.org/officeDocument/2006/relationships/notesMaster" Target="/ppt/notesMasters/notesMaster1.xml" Id="Rf93e54fba434420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a07250bbed4431" /><Relationship Type="http://schemas.openxmlformats.org/officeDocument/2006/relationships/notesMaster" Target="/ppt/notesMasters/notesMaster1.xml" Id="R742dd684a86345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aec985e34f04762" /><Relationship Type="http://schemas.openxmlformats.org/officeDocument/2006/relationships/notesMaster" Target="/ppt/notesMasters/notesMaster1.xml" Id="R933cbf5a5e984d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introduce the purpose of the demo deck.</a:t>
            </a:r>
          </a:p>
          <a:p xmlns:a="http://schemas.openxmlformats.org/drawingml/2006/main">
            <a:r>
              <a:t>The screenshots are user-provided UI evidence and are not treated as executable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Screenshots provided by user in current conversation.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C:/Users/DIPAKA~1/AppData/Local/Temp/codex-clipboard-22267948-5d7d-4e32-a769-b5d7ba744ef7.png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C:/Users/DIPAKA~1/AppData/Local/Temp/codex-clipboard-eb4c7be8-4cff-42d4-b551-50db69e44572.png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C:/Users/DIPAKA~1/AppData/Local/Temp/codex-clipboard-af03a7ee-f5fc-4f9b-8e85-24c74c0e08d2.png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C:/Users/DIPAKA~1/AppData/Local/Temp/codex-clipboard-1eeb28f5-fe64-4f80-a1ad-2d5106eb4487.png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C:/Users/DIPAKA~1/AppData/Local/Temp/codex-clipboard-9405c371-76b2-4a48-b19d-3f6dfa3c37ea.png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C:/Users/DIPAKA~1/AppData/Local/Temp/codex-clipboard-a1ef119c-4f60-4bd5-80b6-2a326e8e27ca.png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C:/Users/DIPAKA~1/AppData/Local/Temp/codex-clipboard-fea1cfd7-ade2-43b7-81fd-f10e2f405837.png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C:/Users/DIPAKA~1/AppData/Local/Temp/codex-clipboard-45238fc8-8222-4d03-bffd-eb021f6d4990.png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C:/Users/DIPAKA~1/AppData/Local/Temp/codex-clipboard-9734fec6-c3d1-49af-b832-09c0b01fb495.png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C:/Users/DIPAKA~1/AppData/Local/Temp/codex-clipboard-35bea36d-f33d-4974-9134-aef53987d983.png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C:/Users/DIPAKA~1/AppData/Local/Temp/codex-clipboard-adb709c3-420e-4c36-98a0-aa2db1ec5750.png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Screenshot: C:/Users/DIPAKA~1/AppData/Local/Temp/codex-clipboard-fdb76072-0d24-4904-9475-9ff122e51458.png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tying UI behavior to the backend architecture.</a:t>
            </a:r>
          </a:p>
          <a:p xmlns:a="http://schemas.openxmlformats.org/drawingml/2006/main">
            <a:r>
              <a:t>Mention that frontend build passes; backend has unrelated TypeScript cleanup remaining if asked.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Screenshots provided by user in current conversation.</a:t>
            </a:r>
          </a:p>
          <a:p xmlns:a="http://schemas.openxmlformats.org/drawingml/2006/main">
            <a:r>
              <a:t>Frontend route map: frontend/src/app/app.routes.ts.</a:t>
            </a:r>
          </a:p>
          <a:p xmlns:a="http://schemas.openxmlformats.org/drawingml/2006/main">
            <a:r>
              <a:t>Frontend API integration: frontend/src/app/core/api/agent-api.service.ts and frontend/src/app/core/api/github-api.service.ts.</a:t>
            </a:r>
          </a:p>
          <a:p xmlns:a="http://schemas.openxmlformats.org/drawingml/2006/main">
            <a:r>
              <a:t>Backend route map: backend/src/routes/agent.routes.ts and backend/src/routes/github.routes.ts.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42a8467a1648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d6a7c01f614499" /><Relationship Type="http://schemas.openxmlformats.org/officeDocument/2006/relationships/slideLayout" Target="/ppt/slideLayouts/slideLayout1.xml" Id="Ra51db629a00847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1db629a00847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ad7923b58413a" /><Relationship Type="http://schemas.openxmlformats.org/officeDocument/2006/relationships/notesSlide" Target="/ppt/notesSlides/notesSlide1.xml" Id="R747bad12096d41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b904d5dd742b8" /><Relationship Type="http://schemas.openxmlformats.org/officeDocument/2006/relationships/image" Target="/ppt/media/image.png" Id="R2137e7b1832146a5" /><Relationship Type="http://schemas.openxmlformats.org/officeDocument/2006/relationships/notesSlide" Target="/ppt/notesSlides/notesSlide2.xml" Id="R9c91016c569545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f30ba6a0a4242" /><Relationship Type="http://schemas.openxmlformats.org/officeDocument/2006/relationships/image" Target="/ppt/media/image2.png" Id="R6d0db42db5b841a9" /><Relationship Type="http://schemas.openxmlformats.org/officeDocument/2006/relationships/notesSlide" Target="/ppt/notesSlides/notesSlide3.xml" Id="Rc0208d34b05d45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dfbc86b3a446f" /><Relationship Type="http://schemas.openxmlformats.org/officeDocument/2006/relationships/image" Target="/ppt/media/image3.png" Id="Rbf7fe6b4e2c54cd1" /><Relationship Type="http://schemas.openxmlformats.org/officeDocument/2006/relationships/notesSlide" Target="/ppt/notesSlides/notesSlide4.xml" Id="R6516a6a5c38d45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4f9633bf4482b" /><Relationship Type="http://schemas.openxmlformats.org/officeDocument/2006/relationships/image" Target="/ppt/media/image4.png" Id="Rcfa14b57adcb43cf" /><Relationship Type="http://schemas.openxmlformats.org/officeDocument/2006/relationships/notesSlide" Target="/ppt/notesSlides/notesSlide5.xml" Id="R297d5e81f7c64b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ae23ac6ea44f1" /><Relationship Type="http://schemas.openxmlformats.org/officeDocument/2006/relationships/image" Target="/ppt/media/image5.png" Id="R5c04acec91c24e88" /><Relationship Type="http://schemas.openxmlformats.org/officeDocument/2006/relationships/notesSlide" Target="/ppt/notesSlides/notesSlide6.xml" Id="R18468666fd9142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f3ff2e3c04025" /><Relationship Type="http://schemas.openxmlformats.org/officeDocument/2006/relationships/image" Target="/ppt/media/image6.png" Id="R85a6509fa170460a" /><Relationship Type="http://schemas.openxmlformats.org/officeDocument/2006/relationships/notesSlide" Target="/ppt/notesSlides/notesSlide7.xml" Id="Ree22c656455d4d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9bcaeb93b45ed" /><Relationship Type="http://schemas.openxmlformats.org/officeDocument/2006/relationships/image" Target="/ppt/media/image7.png" Id="R94754b50ff1b4487" /><Relationship Type="http://schemas.openxmlformats.org/officeDocument/2006/relationships/notesSlide" Target="/ppt/notesSlides/notesSlide8.xml" Id="R5e4853fcaf804a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a699cf0ee4629" /><Relationship Type="http://schemas.openxmlformats.org/officeDocument/2006/relationships/image" Target="/ppt/media/image8.png" Id="Rbdb66a56c7f44d7d" /><Relationship Type="http://schemas.openxmlformats.org/officeDocument/2006/relationships/notesSlide" Target="/ppt/notesSlides/notesSlide9.xml" Id="Rbcfe5a00866840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f938351a842d8" /><Relationship Type="http://schemas.openxmlformats.org/officeDocument/2006/relationships/image" Target="/ppt/media/image9.png" Id="R7de1539453374653" /><Relationship Type="http://schemas.openxmlformats.org/officeDocument/2006/relationships/notesSlide" Target="/ppt/notesSlides/notesSlide10.xml" Id="R29c7695c10b242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1b28fbe1c4f0f" /><Relationship Type="http://schemas.openxmlformats.org/officeDocument/2006/relationships/image" Target="/ppt/media/image10.png" Id="R5c3edf6e20654059" /><Relationship Type="http://schemas.openxmlformats.org/officeDocument/2006/relationships/notesSlide" Target="/ppt/notesSlides/notesSlide11.xml" Id="Rcb461a5034d746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6a0e72bf248b9" /><Relationship Type="http://schemas.openxmlformats.org/officeDocument/2006/relationships/image" Target="/ppt/media/image11.png" Id="R787ee14f2cd24c5b" /><Relationship Type="http://schemas.openxmlformats.org/officeDocument/2006/relationships/notesSlide" Target="/ppt/notesSlides/notesSlide12.xml" Id="Rf1226619db3b41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e90670ea542d7" /><Relationship Type="http://schemas.openxmlformats.org/officeDocument/2006/relationships/image" Target="/ppt/media/image12.png" Id="R0508025882de4863" /><Relationship Type="http://schemas.openxmlformats.org/officeDocument/2006/relationships/notesSlide" Target="/ppt/notesSlides/notesSlide13.xml" Id="R01a523461d3546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80c1b127c405a" /><Relationship Type="http://schemas.openxmlformats.org/officeDocument/2006/relationships/notesSlide" Target="/ppt/notesSlides/notesSlide14.xml" Id="R0022fa3e94e147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62105-A691-4D59-AEA8-DB2DF870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2A69E-BBDF-431B-9523-6A8D7353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430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71126"/>
                </a:solidFill>
              </a:defRPr>
            </a:pPr>
            <a:r>
              <a:rPr sz="4650" b="1">
                <a:solidFill>
                  <a:srgbClr val="071126"/>
                </a:solidFill>
              </a:rPr>
              <a:t>GitArchitect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845AF-6B1E-47D5-A01B-3B9B10FF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179"/>
                </a:solidFill>
              </a:defRPr>
            </a:pPr>
            <a:r>
              <a:rPr sz="2250" b="0">
                <a:solidFill>
                  <a:srgbClr val="536179"/>
                </a:solidFill>
              </a:rPr>
              <a:t>Screen-by-screen product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16DE6-E245-4FE3-8FCE-7C05256B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71126"/>
                </a:solidFill>
              </a:defRPr>
            </a:pPr>
            <a:r>
              <a:rPr sz="1800" b="0">
                <a:solidFill>
                  <a:srgbClr val="071126"/>
                </a:solidFill>
              </a:rPr>
              <a:t>A concise explanation of each page, what the user sees, and how the Angular frontend integrates with the Express backend.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C302A-DC7C-4612-BBE6-2A993F89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162050"/>
            <a:ext cx="2667000" cy="3429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3F5F9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376BD-B36B-4E22-AC4A-7B8B0350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543050"/>
            <a:ext cx="20955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Dashboard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Repositories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AI Chat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Repository Intelligence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PR Review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Issue Analyzer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CI Debugger</a:t>
            </a:r>
          </a:p>
          <a:p xmlns:a="http://schemas.openxmlformats.org/drawingml/2006/main">
            <a:pPr algn="ctr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GitHub Actions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BE10E3-C2D6-475F-91C7-0F0D36C0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</a:t>
            </a:r>
          </a:p>
        </p:txBody>
      </p:sp>
    </p:spTree>
    <p:extLst>
      <p:ext uri="{BB962C8B-B14F-4D97-AF65-F5344CB8AC3E}">
        <p14:creationId xmlns:p14="http://schemas.microsoft.com/office/powerpoint/2010/main" val="627225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2D189-B6DA-4E06-9345-436F3D1B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5F0D8-F42C-4E6F-BEAC-2BE56B00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Dashboard confirms the working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B7FBF-191B-44A5-9CCD-D9ECB0BF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team can quickly see connection, session, repository, and available workflows.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D6A35-F365-488B-8D53-FBC5AF41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7e7b1832146a5"/>
          <a:stretch xmlns:a="http://schemas.openxmlformats.org/drawingml/2006/main"/>
        </p:blipFill>
        <p:spPr>
          <a:xfrm xmlns:a="http://schemas.openxmlformats.org/drawingml/2006/main">
            <a:off x="514350" y="1879474"/>
            <a:ext cx="6762750" cy="357530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71A5DF-79D5-4851-A290-65C80BC8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7D700-3CCB-4CC0-A3B1-1B376B08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GitHub Connected status confirms the GitHub token is usable.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Session is Active and repository is already selected.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Workflow tiles provide navigation to analysis and GitHub action pages.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CDAFC-BAC2-4FC1-AF8C-29CD83E1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6FD08F-076E-4984-8D48-9EF2CECE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GET /api/v1/github/auth/status checks GitHub connectivity.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Session id is stored in AppSessionService and localStorage.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Repository context is reused by all repository-aware workflows.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75235-CB8F-40EE-BEEE-5184DCFC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2</a:t>
            </a:r>
          </a:p>
        </p:txBody>
      </p:sp>
    </p:spTree>
    <p:extLst>
      <p:ext uri="{BB962C8B-B14F-4D97-AF65-F5344CB8AC3E}">
        <p14:creationId xmlns:p14="http://schemas.microsoft.com/office/powerpoint/2010/main" val="1125268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8905C-FF5A-48C4-BCD7-8C3FBB90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81117-2B1A-4C19-A8DD-8FC5F70C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Repositories page selects the repo for the whole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91BF3-CD02-4838-8D9A-3A7360D1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This is the setup step before analysis, PR review, issue analysis, CI debugging, or writes.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F25F5-0B38-450A-9F91-25C55084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db42db5b841a9"/>
          <a:stretch xmlns:a="http://schemas.openxmlformats.org/drawingml/2006/main"/>
        </p:blipFill>
        <p:spPr>
          <a:xfrm xmlns:a="http://schemas.openxmlformats.org/drawingml/2006/main">
            <a:off x="514350" y="1873358"/>
            <a:ext cx="6762750" cy="358753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AC14A-4F6C-45B0-8EED-AA664D80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1B264-0430-42DA-AE83-54AC733B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Accessible GitHub repositories are listed with branch, language, and privacy.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Search helps locate the target repository.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Selected repo is highlighted and saved as the active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83037-833C-40DA-A6A4-3B66A90B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B908D7-FF49-49F1-92B4-DFA19324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GET /api/v1/github/repos lists accessible repositories.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PUT /api/v1/agent/sessions/:sessionId/repository verifies and stores the repo.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stores owner, repo, fullName, defaultBranch, URL, and privacy.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95DA6-667D-4AD9-974E-86244D79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3</a:t>
            </a:r>
          </a:p>
        </p:txBody>
      </p:sp>
    </p:spTree>
    <p:extLst>
      <p:ext uri="{BB962C8B-B14F-4D97-AF65-F5344CB8AC3E}">
        <p14:creationId xmlns:p14="http://schemas.microsoft.com/office/powerpoint/2010/main" val="154288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80CD3-9A72-4309-8856-B6EBF468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0DA45-939C-4DC3-BAD8-0D0FDC84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AI Chat asks repository-aware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6E909-D9FA-407E-9622-6DE85771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chat page gives a general interface for asking about the selected repository.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F9606-34C2-4D29-90B9-7297F305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fe6b4e2c54cd1"/>
          <a:stretch xmlns:a="http://schemas.openxmlformats.org/drawingml/2006/main"/>
        </p:blipFill>
        <p:spPr>
          <a:xfrm xmlns:a="http://schemas.openxmlformats.org/drawingml/2006/main">
            <a:off x="514350" y="1866079"/>
            <a:ext cx="6762750" cy="360209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3DB8E-6E9C-4768-BA96-A215E3FF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C0C94-E52D-4195-AD38-D907A77E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Selected repository appears in the page header.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Suggested prompts guide common engineering questions.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Composer sends free-form questions to GitArchitect.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D1FB3-6F9A-4B70-9932-98C23F43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90CEF-A9CF-469A-A996-EEE561CA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/api/v1/agent/chat sends sessionId and message.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loads repository context from the active session.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GitArchitect agent uses GitHub MCP for factual repository answers.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A5B05-8050-434F-B718-49158444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4</a:t>
            </a:r>
          </a:p>
        </p:txBody>
      </p:sp>
    </p:spTree>
    <p:extLst>
      <p:ext uri="{BB962C8B-B14F-4D97-AF65-F5344CB8AC3E}">
        <p14:creationId xmlns:p14="http://schemas.microsoft.com/office/powerpoint/2010/main" val="13572959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1D481-B370-4DBE-9359-A593B676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F5D0C-F33C-4195-A383-BBFB2EAD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Repository Intelligence starts multi-agent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E8219-16AA-404D-86E7-D9438EB0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page launches architecture, security, testing, and technology discovery.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34B57-844B-4B6B-A87D-862F373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14b57adcb43cf"/>
          <a:stretch xmlns:a="http://schemas.openxmlformats.org/drawingml/2006/main"/>
        </p:blipFill>
        <p:spPr>
          <a:xfrm xmlns:a="http://schemas.openxmlformats.org/drawingml/2006/main">
            <a:off x="514350" y="1872422"/>
            <a:ext cx="6762750" cy="358940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30AFF-29B0-4C63-B43D-85362E07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BC933-3CCF-46AE-BB33-7675E2AB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Single Analyze repository action starts the repository report.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Screen is intentionally simple before results are returned.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Output later shows scores, specialists, stack discovery, findings, and recommendations.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D4B0E-D3F7-496A-9D4B-144151A7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40A3F-E608-4853-A46D-D75EC189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/api/v1/agent/sessions/:sessionId/repository-analysis.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runs repository discovery first.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Specialist agents run architecture, security, testing, and technology reviews.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78A00-16D9-43C0-A921-9F61DDF5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5</a:t>
            </a:r>
          </a:p>
        </p:txBody>
      </p:sp>
    </p:spTree>
    <p:extLst>
      <p:ext uri="{BB962C8B-B14F-4D97-AF65-F5344CB8AC3E}">
        <p14:creationId xmlns:p14="http://schemas.microsoft.com/office/powerpoint/2010/main" val="4920810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D9DBA-EB60-4041-A002-C9B53DEE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3791E-0E37-4C69-8E0A-E14CD450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PR Review summarizes the pull request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2E8D4-5C75-4241-A2AA-9FA4DBAE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top section shows the decision fields the team needs first.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24243-B69E-43D3-A35A-BC4D3A28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4acec91c24e88"/>
          <a:stretch xmlns:a="http://schemas.openxmlformats.org/drawingml/2006/main"/>
        </p:blipFill>
        <p:spPr>
          <a:xfrm xmlns:a="http://schemas.openxmlformats.org/drawingml/2006/main">
            <a:off x="514350" y="1875120"/>
            <a:ext cx="6762750" cy="358401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796D1-BF95-4A41-8851-67A96BDC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997AC-A2D2-43E3-80C2-05D37869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Input accepts a PR number, then renders PR #, status, title, author, and branches.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Recommendation, risk, overall score, changed files, additions, deletions, and check status are visible.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Summary explains the practical impact of the PR.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82E8A3-0618-4DC3-8922-4BB1E923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EB49A6-8048-46EA-BD08-7B74602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/api/v1/agent/sessions/:sessionId/pull-requests/:pullNumber/review.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returns { repository, pullNumber, overallScore, review }.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Frontend unwraps response.data.review and displays nested pullRequest fields.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AD9F0-E92E-41D9-A6E0-FAEBF37F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6</a:t>
            </a:r>
          </a:p>
        </p:txBody>
      </p:sp>
    </p:spTree>
    <p:extLst>
      <p:ext uri="{BB962C8B-B14F-4D97-AF65-F5344CB8AC3E}">
        <p14:creationId xmlns:p14="http://schemas.microsoft.com/office/powerpoint/2010/main" val="3531680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42DC9E-5FBC-4431-A658-342F0D50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CB976-7601-43B3-ADB5-71D8B58D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PR Review details show evidence behind the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00B04-0D4A-4FD0-A0CF-9BF90075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Scores, positives, testing assessment, checks, findings, and limitations explain the review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927E5-0EB2-49DD-9DB4-8D0A1C64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6509fa170460a"/>
          <a:stretch xmlns:a="http://schemas.openxmlformats.org/drawingml/2006/main"/>
        </p:blipFill>
        <p:spPr>
          <a:xfrm xmlns:a="http://schemas.openxmlformats.org/drawingml/2006/main">
            <a:off x="640386" y="1619250"/>
            <a:ext cx="6510678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F3385-17A2-41D8-9CBC-9FC584FE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E17E3-B7E2-49A2-8372-88B2EF59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Score grid breaks the review into correctness, architecture, maintainability, security, performance, testing, and overall.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Files Reviewed and Positives show review scope and safe parts.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Checks and Limitations make API access constraints visible.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C2585-6706-48D6-9D1A-60FCBEEF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CFCFB-91EF-4024-9D59-34D67E31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PR review agent reads PR metadata, changed files, diff, checks, and repository evidence.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If check runs are inaccessible, backend returns checks.status = unavailable with notes.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Frontend renders findings and limitations instead of hiding missing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83286-5898-4667-907A-CB304EAC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7</a:t>
            </a:r>
          </a:p>
        </p:txBody>
      </p:sp>
    </p:spTree>
    <p:extLst>
      <p:ext uri="{BB962C8B-B14F-4D97-AF65-F5344CB8AC3E}">
        <p14:creationId xmlns:p14="http://schemas.microsoft.com/office/powerpoint/2010/main" val="7704873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59395E-760D-49E0-B675-EBAA8381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AE824-71A4-49C4-82F1-333D131F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Issue Analyzer turns an issue into an implementation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670FF-BDFC-475C-B40D-32649378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first section captures issue identity, readiness, confidence, summary, and problem statement.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0ECE0-673B-4BD5-84C9-A98DB78A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54b50ff1b4487"/>
          <a:stretch xmlns:a="http://schemas.openxmlformats.org/drawingml/2006/main"/>
        </p:blipFill>
        <p:spPr>
          <a:xfrm xmlns:a="http://schemas.openxmlformats.org/drawingml/2006/main">
            <a:off x="514350" y="1860270"/>
            <a:ext cx="6762750" cy="361371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45BFF-AE9B-4CFC-A24B-9FD6229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FC42C-828E-4326-B5D4-124C6F68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Issue number, type, readiness, and confidence are visible at the top.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Issue title and author identify the source request.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Summary and Problem Statement translate the issue into engineering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C624F-084C-4CF3-A96E-E36F7DE4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C549C-567F-48AF-A4E1-B5B5CDFD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/api/v1/agent/sessions/:sessionId/issues/:issueNumber/analyze.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returns { issueNumber, analysis }.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Frontend unwraps response.data.analysis and binds nested fields.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FA8AE-F627-4857-9285-B10FDB58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8</a:t>
            </a:r>
          </a:p>
        </p:txBody>
      </p:sp>
    </p:spTree>
    <p:extLst>
      <p:ext uri="{BB962C8B-B14F-4D97-AF65-F5344CB8AC3E}">
        <p14:creationId xmlns:p14="http://schemas.microsoft.com/office/powerpoint/2010/main" val="14771701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42CC2-63F5-4F00-B98A-2D065397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370E4-1008-46E5-A2F0-8537084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Issue Analyzer separates explicit, inferred, and missing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65CD8-3557-46B9-8C4E-AB32A907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This helps the team know what is clear and what must be clarified before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4C6D2-7AA6-4646-BFFC-8FFE3E6D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66a56c7f44d7d"/>
          <a:stretch xmlns:a="http://schemas.openxmlformats.org/drawingml/2006/main"/>
        </p:blipFill>
        <p:spPr>
          <a:xfrm xmlns:a="http://schemas.openxmlformats.org/drawingml/2006/main">
            <a:off x="548509" y="1619250"/>
            <a:ext cx="6694433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02F7E-40C1-4EA2-81D8-47AD41F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2392FA-C02C-4A06-9EC1-164ED4A0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Root cause section states whether a bug-style hypothesis applies.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Explicit requirements are separated from inferred and missing requirements.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Acceptance criteria and affected areas become visible implementation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F5C88-082A-4A0F-AD49-ECCC28DC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26AEC-6CD9-4C06-8CD4-77821FDD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Issue analyzer agent reads issue body, comments, labels, and repository files.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Schema groups requirements as explicit, inferred, and missing.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Affected areas include reasons and evidence paths from repository inspection.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795C7-B35B-404D-BDC1-7338E741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9</a:t>
            </a:r>
          </a:p>
        </p:txBody>
      </p:sp>
    </p:spTree>
    <p:extLst>
      <p:ext uri="{BB962C8B-B14F-4D97-AF65-F5344CB8AC3E}">
        <p14:creationId xmlns:p14="http://schemas.microsoft.com/office/powerpoint/2010/main" val="4118427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576DD-7C3F-4283-A973-ED06B5D6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A0610-F10F-4E7C-AB8E-871106CA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Issue Analyzer proposes implementation and testing plans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A1182-2723-4648-85BA-370B9800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middle section converts analysis into concrete next steps.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79B8C-4AC8-4654-9D82-5ACBBEC0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1539453374653"/>
          <a:stretch xmlns:a="http://schemas.openxmlformats.org/drawingml/2006/main"/>
        </p:blipFill>
        <p:spPr>
          <a:xfrm xmlns:a="http://schemas.openxmlformats.org/drawingml/2006/main">
            <a:off x="551064" y="1619250"/>
            <a:ext cx="6689322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231F3-DA3D-4BD7-B89F-F493A0A8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B9ABA-E724-4EA7-87C8-AF1ADC35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Implementation Plan lists ordered steps, scope clarification, inspection, and test creation.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Testing Plan describes unit, regression, and manual validation paths.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Files and validation notes connect the plan to repository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CBD8E-E381-419F-B119-7369923C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02140-E7F5-4929-9EA3-48D8E172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Structured schema returns implementationPlan objects with order, title, files, and validation.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testingPlan returns type, scenario, and expectedResult.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Frontend renders object fields as readable cards/lists.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F9BAA6-ABD6-43CD-8921-D08C7F0E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10</a:t>
            </a:r>
          </a:p>
        </p:txBody>
      </p:sp>
    </p:spTree>
    <p:extLst>
      <p:ext uri="{BB962C8B-B14F-4D97-AF65-F5344CB8AC3E}">
        <p14:creationId xmlns:p14="http://schemas.microsoft.com/office/powerpoint/2010/main" val="10746959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3B88E-B16B-46FB-A80C-78D3B675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6633E-74B9-4F95-A016-CD174035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Issue Analyzer exposes risks, questions, and related 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00ED8-BA5E-4885-AF52-8719281F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final section shows unresolved decisions and likely code touchpoints.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E11C4-1DCA-4363-833C-BA0C23DC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edf6e20654059"/>
          <a:stretch xmlns:a="http://schemas.openxmlformats.org/drawingml/2006/main"/>
        </p:blipFill>
        <p:spPr>
          <a:xfrm xmlns:a="http://schemas.openxmlformats.org/drawingml/2006/main">
            <a:off x="535835" y="1619250"/>
            <a:ext cx="6719779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BE110-52E8-45AA-86C4-2D4D36BC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E6A6A-7FC4-4C9D-84B3-A4422A0E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Risks explain ambiguity and tooling mismatch concerns.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Questions identify decisions the team must answer before coding.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Related Files show likely change/reference paths such as package.json and modules.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E08A8-7634-4D2D-85EA-16ABFF25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82CDA-03C5-4216-B1AB-EF182F9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Issue analyzer returns risks with level, risk, and mitigation.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relatedFiles contains path, relevance, and likelyChange.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This section prevents speculative implementation when issue detail is missing.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51D43-834C-44FC-BCC8-A169151E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11</a:t>
            </a:r>
          </a:p>
        </p:txBody>
      </p:sp>
    </p:spTree>
    <p:extLst>
      <p:ext uri="{BB962C8B-B14F-4D97-AF65-F5344CB8AC3E}">
        <p14:creationId xmlns:p14="http://schemas.microsoft.com/office/powerpoint/2010/main" val="12348889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1D621-124F-479D-8CEC-8EAF5D74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137D4-D08B-49BD-9320-6DD80620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CI Debugger is ready for workflow-run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6B60A-BF44-4A39-9592-BE058035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The user provides a GitHub Actions run id to diagnose failed jobs and logs.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2F51C-5AD0-4F14-A1F6-8278CFD7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ee14f2cd24c5b"/>
          <a:stretch xmlns:a="http://schemas.openxmlformats.org/drawingml/2006/main"/>
        </p:blipFill>
        <p:spPr>
          <a:xfrm xmlns:a="http://schemas.openxmlformats.org/drawingml/2006/main">
            <a:off x="514350" y="2481265"/>
            <a:ext cx="6762750" cy="237172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FBC06-50DC-4197-B3B6-65CEE194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9CF6F-77A5-4376-B3B8-1B2E59F6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Input accepts a GitHub Actions run id.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The page is disabled until a repository is selected and run id is present.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After execution, it shows failure category, root cause, failed jobs, logs, fixes, and validation plan.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56048-1120-403F-9699-60C02CB6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484D2-A848-4C52-ADB0-A1C1F734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/api/v1/agent/sessions/:sessionId/actions/runs/:runId/debug.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Backend CI debugger agent reads workflow run, failed jobs, logs, workflow config, and related code.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Output is structured as root cause plus proposed fix and validation plan.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3C2D3-FC9E-4040-9AD6-C95C1A15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12</a:t>
            </a:r>
          </a:p>
        </p:txBody>
      </p:sp>
    </p:spTree>
    <p:extLst>
      <p:ext uri="{BB962C8B-B14F-4D97-AF65-F5344CB8AC3E}">
        <p14:creationId xmlns:p14="http://schemas.microsoft.com/office/powerpoint/2010/main" val="19303935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1177F-A424-4AAB-90F3-9D804551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9234A-C007-4BEE-8FD8-0E6BCB05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GitHub Actions page keeps mutations human-approved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B0911-0DEF-4124-9D67-B7E0E489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Write operations are scoped to the selected repository and run only after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EA396-10CB-42D5-B1AF-A61CB65F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43050"/>
            <a:ext cx="691515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8025882de4863"/>
          <a:stretch xmlns:a="http://schemas.openxmlformats.org/drawingml/2006/main"/>
        </p:blipFill>
        <p:spPr>
          <a:xfrm xmlns:a="http://schemas.openxmlformats.org/drawingml/2006/main">
            <a:off x="514350" y="2255723"/>
            <a:ext cx="6762750" cy="282280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1AAE2-176D-4E0D-B3D3-B02DFF5C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954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this screen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B9834-3807-4545-935B-EC3FF81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3667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Instruction box captures the requested GitHub mutation.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Repository scope is displayed before preparing the action.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Completed status explains when a request cannot be executed directly, such as an unstable PR merge state.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FB15F-83F1-47B5-8025-0E691EAB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5762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5147B-524C-4684-B186-AD92A240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57675"/>
            <a:ext cx="3667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/sessions/:sessionId/github/write prepares the action.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If a write tool is proposed, backend stores paused RunState and returns approvalId.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POST /github/approvals/:approvalId/decision approves or rejects 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25EE1-9E20-4752-813D-231BE449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13</a:t>
            </a:r>
          </a:p>
        </p:txBody>
      </p:sp>
    </p:spTree>
    <p:extLst>
      <p:ext uri="{BB962C8B-B14F-4D97-AF65-F5344CB8AC3E}">
        <p14:creationId xmlns:p14="http://schemas.microsoft.com/office/powerpoint/2010/main" val="19903556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A34A0D-E53A-4348-8EA7-6BEBA076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9"/>
                </a:solidFill>
              </a:defRPr>
            </a:pPr>
            <a:r>
              <a:rPr sz="1050" b="1">
                <a:solidFill>
                  <a:srgbClr val="536179"/>
                </a:solidFill>
              </a:rPr>
              <a:t>GITARCHITECT UI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C1F8F-2838-4DD5-A6E4-8C0C569F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126"/>
                </a:solidFill>
              </a:defRPr>
            </a:pPr>
            <a:r>
              <a:rPr sz="2700" b="1">
                <a:solidFill>
                  <a:srgbClr val="071126"/>
                </a:solidFill>
              </a:rPr>
              <a:t>Presentation 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37B85-7515-41B4-A1D4-B59FDDBA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9"/>
                </a:solidFill>
              </a:defRPr>
            </a:pPr>
            <a:r>
              <a:rPr sz="1350" b="0">
                <a:solidFill>
                  <a:srgbClr val="536179"/>
                </a:solidFill>
              </a:rPr>
              <a:t>Every workflow is session-scoped, repository-aware, and evidence-based.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5118A-93D8-4C40-93A3-317E5E5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What to emphasize to the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8A13D-2642-4925-924B-75BA86DA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Repository selection is the key setup step because it populates backend context.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Analysis pages now render nested backend responses correctly.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PR Review and Issue Analyzer expose both findings and limitations instead of hiding uncertainty.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GitHub writes remain controlled by human approval before mutation tools execute.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5D8A5-DC68-4A6E-8855-734DF417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126"/>
                </a:solidFill>
              </a:defRPr>
            </a:pPr>
            <a:r>
              <a:rPr sz="1650" b="1">
                <a:solidFill>
                  <a:srgbClr val="071126"/>
                </a:solidFill>
              </a:rPr>
              <a:t>Backend story in one 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50F13-A627-4B55-BA13-00292399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38150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Angular sends workflow input plus sessionId.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Express resolves the selected repository from MongoDB.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OpenAI agents inspect GitHub through MCP.</a:t>
            </a:r>
          </a:p>
          <a:p xmlns:a="http://schemas.openxmlformats.org/drawingml/2006/main">
            <a:pPr algn="l">
              <a:defRPr sz="1275" b="0">
                <a:solidFill>
                  <a:srgbClr val="536179"/>
                </a:solidFill>
              </a:defRPr>
            </a:pPr>
            <a:r>
              <a:rPr sz="1275" b="0">
                <a:solidFill>
                  <a:srgbClr val="536179"/>
                </a:solidFill>
              </a:rPr>
              <a:t>• Structured responses return to Angular cards and detail sections.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857CB-954C-4115-AC37-9C2898E9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30943-999E-45B1-B12F-31631156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3911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126"/>
                </a:solidFill>
              </a:defRPr>
            </a:pPr>
            <a:r>
              <a:rPr sz="1800" b="1">
                <a:solidFill>
                  <a:srgbClr val="071126"/>
                </a:solidFill>
              </a:rPr>
              <a:t>Demo flow: Dashboard → Repositories → PR Review → Issue Analyzer → GitHub Actions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0FE24-983F-4819-AF8F-6D9E37C2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179"/>
                </a:solidFill>
              </a:defRPr>
            </a:pPr>
            <a:r>
              <a:rPr sz="975" b="0">
                <a:solidFill>
                  <a:srgbClr val="536179"/>
                </a:solidFill>
              </a:rPr>
              <a:t>GitArchitect presentation | 14</a:t>
            </a:r>
          </a:p>
        </p:txBody>
      </p:sp>
    </p:spTree>
    <p:extLst>
      <p:ext uri="{BB962C8B-B14F-4D97-AF65-F5344CB8AC3E}">
        <p14:creationId xmlns:p14="http://schemas.microsoft.com/office/powerpoint/2010/main" val="9955429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2026-08-18T16:06:59.3600000Z</dcterms:created>
  <dcterms:modified xsi:type="dcterms:W3CDTF">2026-08-18T16:06:59.3600000Z</dcterms:modified>
</coreProperties>
</file>